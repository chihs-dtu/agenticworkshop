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0ef20a000648c4" /><Relationship Type="http://schemas.openxmlformats.org/officeDocument/2006/relationships/extended-properties" Target="/docProps/app.xml" Id="Ree698c314ca642c0" /><Relationship Type="http://schemas.openxmlformats.org/officeDocument/2006/relationships/officeDocument" Target="/ppt/presentation.xml" Id="R841e40ba5faa46d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44d2a0ad6c140a5"/>
  </p:sldMasterIdLst>
  <p:notesMasterIdLst>
    <p:notesMasterId xmlns:r="http://schemas.openxmlformats.org/officeDocument/2006/relationships" r:id="R92c1043bdb454037"/>
  </p:notesMasterIdLst>
  <p:sldIdLst>
    <p:sldId xmlns:r="http://schemas.openxmlformats.org/officeDocument/2006/relationships" id="256" r:id="Rb9c915c0a859443c"/>
    <p:sldId xmlns:r="http://schemas.openxmlformats.org/officeDocument/2006/relationships" id="257" r:id="Reeb12785013a4eb3"/>
    <p:sldId xmlns:r="http://schemas.openxmlformats.org/officeDocument/2006/relationships" id="258" r:id="Reede71a7640845d3"/>
    <p:sldId xmlns:r="http://schemas.openxmlformats.org/officeDocument/2006/relationships" id="259" r:id="R49241e08cdc84c59"/>
    <p:sldId xmlns:r="http://schemas.openxmlformats.org/officeDocument/2006/relationships" id="260" r:id="Rd39d0a6f80094c9e"/>
    <p:sldId xmlns:r="http://schemas.openxmlformats.org/officeDocument/2006/relationships" id="261" r:id="Re260c64cb9e84dd4"/>
  </p:sldIdLst>
  <p:sldSz cx="12192000" cy="6858000"/>
  <p:notesSz cx="6858000" cy="9144000"/>
  <p:embeddedFontLst>
    <p:embeddedFont>
      <p:font typeface="Inter"/>
      <p:regular xmlns:r="http://schemas.openxmlformats.org/officeDocument/2006/relationships" r:id="R9bd379e1dee54034"/>
      <p:bold xmlns:r="http://schemas.openxmlformats.org/officeDocument/2006/relationships" r:id="Rc1380c87704f4181"/>
    </p:embeddedFont>
    <p:embeddedFont>
      <p:font typeface="Inter Medium"/>
      <p:regular xmlns:r="http://schemas.openxmlformats.org/officeDocument/2006/relationships" r:id="Rb627fa6a2b964668"/>
    </p:embeddedFont>
    <p:embeddedFont>
      <p:font typeface="Inter SemiBold"/>
      <p:regular xmlns:r="http://schemas.openxmlformats.org/officeDocument/2006/relationships" r:id="Rd930f03fb3b3482c"/>
      <p:bold xmlns:r="http://schemas.openxmlformats.org/officeDocument/2006/relationships" r:id="Rcd397c3c4132459d"/>
    </p:embeddedFont>
    <p:embeddedFont>
      <p:font typeface="OpenAI Sans"/>
      <p:regular xmlns:r="http://schemas.openxmlformats.org/officeDocument/2006/relationships" r:id="Rf2a772f75aac46ae"/>
      <p:bold xmlns:r="http://schemas.openxmlformats.org/officeDocument/2006/relationships" r:id="R23ed058017144985"/>
      <p:italic xmlns:r="http://schemas.openxmlformats.org/officeDocument/2006/relationships" r:id="R7126c23311864444"/>
      <p:boldItalic xmlns:r="http://schemas.openxmlformats.org/officeDocument/2006/relationships" r:id="R3409c7f048af48c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68422a92e9e4ae3" /><Relationship Type="http://schemas.openxmlformats.org/officeDocument/2006/relationships/slideMaster" Target="/ppt/slideMasters/slideMaster1.xml" Id="R644d2a0ad6c140a5" /><Relationship Type="http://schemas.openxmlformats.org/officeDocument/2006/relationships/notesMaster" Target="/ppt/notesMasters/notesMaster1.xml" Id="R92c1043bdb454037" /><Relationship Type="http://schemas.openxmlformats.org/officeDocument/2006/relationships/presProps" Target="/ppt/presProps.xml" Id="R6da60b46c4de4d16" /><Relationship Type="http://schemas.openxmlformats.org/officeDocument/2006/relationships/viewProps" Target="/ppt/viewProps.xml" Id="R93bba25697464cf1" /><Relationship Type="http://schemas.openxmlformats.org/officeDocument/2006/relationships/tableStyles" Target="/ppt/tableStyles.xml" Id="R563b28a017e649ec" /><Relationship Type="http://schemas.openxmlformats.org/officeDocument/2006/relationships/font" Target="/ppt/fonts/font.dat" Id="R9bd379e1dee54034" /><Relationship Type="http://schemas.openxmlformats.org/officeDocument/2006/relationships/font" Target="/ppt/fonts/font2.dat" Id="Rc1380c87704f4181" /><Relationship Type="http://schemas.openxmlformats.org/officeDocument/2006/relationships/font" Target="/ppt/fonts/font3.dat" Id="Rb627fa6a2b964668" /><Relationship Type="http://schemas.openxmlformats.org/officeDocument/2006/relationships/font" Target="/ppt/fonts/font4.dat" Id="Rd930f03fb3b3482c" /><Relationship Type="http://schemas.openxmlformats.org/officeDocument/2006/relationships/font" Target="/ppt/fonts/font5.dat" Id="Rcd397c3c4132459d" /><Relationship Type="http://schemas.openxmlformats.org/officeDocument/2006/relationships/font" Target="/ppt/fonts/font6.dat" Id="Rf2a772f75aac46ae" /><Relationship Type="http://schemas.openxmlformats.org/officeDocument/2006/relationships/font" Target="/ppt/fonts/font7.dat" Id="R23ed058017144985" /><Relationship Type="http://schemas.openxmlformats.org/officeDocument/2006/relationships/font" Target="/ppt/fonts/font8.dat" Id="R7126c23311864444" /><Relationship Type="http://schemas.openxmlformats.org/officeDocument/2006/relationships/font" Target="/ppt/fonts/font9.dat" Id="R3409c7f048af48cc" /><Relationship Type="http://schemas.openxmlformats.org/officeDocument/2006/relationships/slide" Target="/ppt/slides/slide1.xml" Id="Rb9c915c0a859443c" /><Relationship Type="http://schemas.openxmlformats.org/officeDocument/2006/relationships/slide" Target="/ppt/slides/slide2.xml" Id="Reeb12785013a4eb3" /><Relationship Type="http://schemas.openxmlformats.org/officeDocument/2006/relationships/slide" Target="/ppt/slides/slide3.xml" Id="Reede71a7640845d3" /><Relationship Type="http://schemas.openxmlformats.org/officeDocument/2006/relationships/slide" Target="/ppt/slides/slide4.xml" Id="R49241e08cdc84c59" /><Relationship Type="http://schemas.openxmlformats.org/officeDocument/2006/relationships/slide" Target="/ppt/slides/slide5.xml" Id="Rd39d0a6f80094c9e" /><Relationship Type="http://schemas.openxmlformats.org/officeDocument/2006/relationships/slide" Target="/ppt/slides/slide6.xml" Id="Re260c64cb9e84d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0e632db18045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503d2c4cd74a55" /><Relationship Type="http://schemas.openxmlformats.org/officeDocument/2006/relationships/notesMaster" Target="/ppt/notesMasters/notesMaster1.xml" Id="R47811ce4f56443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010c572bb94522" /><Relationship Type="http://schemas.openxmlformats.org/officeDocument/2006/relationships/notesMaster" Target="/ppt/notesMasters/notesMaster1.xml" Id="R6bea92b58b204b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496428fb84169" /><Relationship Type="http://schemas.openxmlformats.org/officeDocument/2006/relationships/notesMaster" Target="/ppt/notesMasters/notesMaster1.xml" Id="R8ec9615cfd5b40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a935f6a29346ca" /><Relationship Type="http://schemas.openxmlformats.org/officeDocument/2006/relationships/notesMaster" Target="/ppt/notesMasters/notesMaster1.xml" Id="R7dcd52c77b1445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247c58f1ab4cbe" /><Relationship Type="http://schemas.openxmlformats.org/officeDocument/2006/relationships/notesMaster" Target="/ppt/notesMasters/notesMaster1.xml" Id="Rec9e4c8ada5042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7410d030ff4bff" /><Relationship Type="http://schemas.openxmlformats.org/officeDocument/2006/relationships/notesMaster" Target="/ppt/notesMasters/notesMaster1.xml" Id="R580dedbe8564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vocabulary before the exercises. OpenCode is the harness. The LLM can be local or external. An agent definition does not train a new model.</a:t>
            </a:r>
            <a:endParaRPr/>
          </a:p>
          <a:p xmlns:a="http://schemas.openxmlformats.org/drawingml/2006/main">
            <a:r>
              <a:t/>
            </a:r>
            <a:endParaRPr/>
          </a:p>
          <a:p xmlns:a="http://schemas.openxmlformats.org/drawingml/2006/main">
            <a:r>
              <a:t>Sources</a:t>
            </a:r>
            <a:endParaRPr/>
          </a:p>
          <a:p xmlns:a="http://schemas.openxmlformats.org/drawingml/2006/main">
            <a:r>
              <a:t>https://opencode.ai/docs/agents/</a:t>
            </a:r>
            <a:endParaRPr/>
          </a:p>
          <a:p xmlns:a="http://schemas.openxmlformats.org/drawingml/2006/main">
            <a:r>
              <a:t>https://opencode.ai/docs/skills/</a:t>
            </a:r>
            <a:endParaRPr/>
          </a:p>
          <a:p xmlns:a="http://schemas.openxmlformats.org/drawingml/2006/main">
            <a:r>
              <a:t>https://opencode.ai/docs/mcp-servers/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Skill: how to carry out a recurring operation. Agent: how to work toward a particular objective. MCP: how an application connects to capabilities exposed by a server. MCP is optional when built-in tools already cover the task. These are different layers, not competing products.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https://opencode.ai/docs/agents/</a:t>
            </a:r>
            <a:endParaRPr/>
          </a:p>
          <a:p xmlns:a="http://schemas.openxmlformats.org/drawingml/2006/main">
            <a:pPr marL="0" lvl="0" indent="0" algn="l">
              <a:spcBef>
                <a:spcPts val="0"/>
              </a:spcBef>
              <a:spcAft>
                <a:spcPts val="0"/>
              </a:spcAft>
              <a:buNone/>
            </a:pPr>
            <a:r>
              <a:t>https://opencode.ai/docs/skills/</a:t>
            </a:r>
            <a:endParaRPr/>
          </a:p>
          <a:p xmlns:a="http://schemas.openxmlformats.org/drawingml/2006/main">
            <a:pPr marL="0" lvl="0" indent="0" algn="l">
              <a:spcBef>
                <a:spcPts val="0"/>
              </a:spcBef>
              <a:spcAft>
                <a:spcPts val="0"/>
              </a:spcAft>
              <a:buNone/>
            </a:pPr>
            <a:r>
              <a:t>https://opencode.ai/docs/mcp-servers/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remote DTU model does not mean the student commands run on the cluster. In this setup OpenCode works with files and commands on the student laptop, subject to permissions. The endpoint hosts the LLM. A skill is not executable merely because its Markdown describes an action.</a:t>
            </a:r>
          </a:p>
          <a:p xmlns:a="http://schemas.openxmlformats.org/drawingml/2006/main">
            <a:r>
              <a:t/>
            </a:r>
          </a:p>
          <a:p xmlns:a="http://schemas.openxmlformats.org/drawingml/2006/main">
            <a:r>
              <a:t>Sources</a:t>
            </a:r>
          </a:p>
          <a:p xmlns:a="http://schemas.openxmlformats.org/drawingml/2006/main">
            <a:r>
              <a:t>https://github.com/peterwadsackett/AgenticWorkshop</a:t>
            </a:r>
          </a:p>
          <a:p xmlns:a="http://schemas.openxmlformats.org/drawingml/2006/main">
            <a:r>
              <a:t>https://opencode.ai/docs/agents/</a:t>
            </a:r>
          </a:p>
          <a:p xmlns:a="http://schemas.openxmlformats.org/drawingml/2006/main">
            <a:r>
              <a:t>https://opencode.ai/docs/permissions/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the workshop PDB example to illustrate the relationships. This is a possible workflow, not a claim that a full molecular viewer or an MCP server is already installed. The project currently supplies agent instructions and skill-builder. Peter and students create more skills in Exercise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https://github.com/peterwadsackett/AgenticWorkshop</a:t>
            </a:r>
            <a:endParaRPr/>
          </a:p>
          <a:p xmlns:a="http://schemas.openxmlformats.org/drawingml/2006/main">
            <a:pPr marL="0" lvl="0" indent="0" algn="l">
              <a:spcBef>
                <a:spcPts val="0"/>
              </a:spcBef>
              <a:spcAft>
                <a:spcPts val="0"/>
              </a:spcAft>
              <a:buNone/>
            </a:pPr>
            <a:r>
              <a:t>https://opencode.ai/docs/skills/</a:t>
            </a:r>
            <a:endParaRPr/>
          </a:p>
          <a:p xmlns:a="http://schemas.openxmlformats.org/drawingml/2006/main">
            <a:pPr marL="0" lvl="0" indent="0" algn="l">
              <a:spcBef>
                <a:spcPts val="0"/>
              </a:spcBef>
              <a:spcAft>
                <a:spcPts val="0"/>
              </a:spcAft>
              <a:buNone/>
            </a:pPr>
            <a:r>
              <a:t>https://opencode.ai/docs/mcp-servers/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allow, ask, and deny. Permissions are not a full operating-system sandbox. edit: deny alone is not read-only when shell access can write files. Discuss prompt injection in retrieved content. Separate model self-reports from observed results. Never submit confidential workshop data to a free external service without checking its terms.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https://opencode.ai/docs/permissions/</a:t>
            </a:r>
            <a:endParaRPr/>
          </a:p>
          <a:p xmlns:a="http://schemas.openxmlformats.org/drawingml/2006/main">
            <a:pPr marL="0" lvl="0" indent="0" algn="l">
              <a:spcBef>
                <a:spcPts val="0"/>
              </a:spcBef>
              <a:spcAft>
                <a:spcPts val="0"/>
              </a:spcAft>
              <a:buNone/>
            </a:pPr>
            <a:r>
              <a:t>https://opencode.ai/docs/skills/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agreed sequence is 1a Peter demonstrates skills, 1b Dimitrios explains skill-builder, 1c participants build and test a skill, 2a compare bad-agent and good-agent, 2b participants build their own agent. No fixed timetable is implied.</a:t>
            </a:r>
            <a:endParaRPr/>
          </a:p>
          <a:p xmlns:a="http://schemas.openxmlformats.org/drawingml/2006/main">
            <a:r>
              <a:t/>
            </a:r>
            <a:endParaRPr/>
          </a:p>
          <a:p xmlns:a="http://schemas.openxmlformats.org/drawingml/2006/main">
            <a:r>
              <a:t>Sources</a:t>
            </a:r>
            <a:endParaRPr/>
          </a:p>
          <a:p xmlns:a="http://schemas.openxmlformats.org/drawingml/2006/main">
            <a:r>
              <a:t>https://github.com/peterwadsackett/AgenticWorkshop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e258fa645447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550074973646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a65163047940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e36183e9f444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80408b5ae648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185d34760f49c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d7ca96dcd74a4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a9a716f41f428c"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3e268803d842df" /><Relationship Type="http://schemas.openxmlformats.org/officeDocument/2006/relationships/slideLayout" Target="/ppt/slideLayouts/slideLayout1.xml" Id="R2be4c41614d0434d" /><Relationship Type="http://schemas.openxmlformats.org/officeDocument/2006/relationships/slideLayout" Target="/ppt/slideLayouts/slideLayout2.xml" Id="R045cc837bb0d49fd" /><Relationship Type="http://schemas.openxmlformats.org/officeDocument/2006/relationships/slideLayout" Target="/ppt/slideLayouts/slideLayout3.xml" Id="R3a498ae9630f4be6" /><Relationship Type="http://schemas.openxmlformats.org/officeDocument/2006/relationships/slideLayout" Target="/ppt/slideLayouts/slideLayout4.xml" Id="Ra8da44bb36014dd7" /><Relationship Type="http://schemas.openxmlformats.org/officeDocument/2006/relationships/slideLayout" Target="/ppt/slideLayouts/slideLayout5.xml" Id="R4c7b0feba0694a1e" /><Relationship Type="http://schemas.openxmlformats.org/officeDocument/2006/relationships/slideLayout" Target="/ppt/slideLayouts/slideLayout6.xml" Id="Rae64ade93b0b4d18" /><Relationship Type="http://schemas.openxmlformats.org/officeDocument/2006/relationships/slideLayout" Target="/ppt/slideLayouts/slideLayout7.xml" Id="R73872ed729fe4b2e" /><Relationship Type="http://schemas.openxmlformats.org/officeDocument/2006/relationships/slideLayout" Target="/ppt/slideLayouts/slideLayout8.xml" Id="Rb8d601436d3243dd"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2be4c41614d0434d"/>
    <p:sldLayoutId xmlns:r="http://schemas.openxmlformats.org/officeDocument/2006/relationships" id="2147483650" r:id="R045cc837bb0d49fd"/>
    <p:sldLayoutId xmlns:r="http://schemas.openxmlformats.org/officeDocument/2006/relationships" id="2147483651" r:id="R3a498ae9630f4be6"/>
    <p:sldLayoutId xmlns:r="http://schemas.openxmlformats.org/officeDocument/2006/relationships" id="2147483652" r:id="Ra8da44bb36014dd7"/>
    <p:sldLayoutId xmlns:r="http://schemas.openxmlformats.org/officeDocument/2006/relationships" id="2147483653" r:id="R4c7b0feba0694a1e"/>
    <p:sldLayoutId xmlns:r="http://schemas.openxmlformats.org/officeDocument/2006/relationships" id="2147483654" r:id="Rae64ade93b0b4d18"/>
    <p:sldLayoutId xmlns:r="http://schemas.openxmlformats.org/officeDocument/2006/relationships" id="2147483655" r:id="R73872ed729fe4b2e"/>
    <p:sldLayoutId xmlns:r="http://schemas.openxmlformats.org/officeDocument/2006/relationships" id="2147483656" r:id="Rb8d601436d3243dd"/>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efb4d767af4c1e" /><Relationship Type="http://schemas.openxmlformats.org/officeDocument/2006/relationships/notesSlide" Target="/ppt/notesSlides/notesSlide1.xml" Id="R4fc7e34785e746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a9fbc5850e43ae" /><Relationship Type="http://schemas.openxmlformats.org/officeDocument/2006/relationships/notesSlide" Target="/ppt/notesSlides/notesSlide2.xml" Id="R938d136cb58141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7780b5b4cb41e5" /><Relationship Type="http://schemas.openxmlformats.org/officeDocument/2006/relationships/notesSlide" Target="/ppt/notesSlides/notesSlide3.xml" Id="Ra739ca19c56d4c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6077058ceb4b1d" /><Relationship Type="http://schemas.openxmlformats.org/officeDocument/2006/relationships/notesSlide" Target="/ppt/notesSlides/notesSlide4.xml" Id="Rcd67baab97a34e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fc829eaf5e34d93" /><Relationship Type="http://schemas.openxmlformats.org/officeDocument/2006/relationships/notesSlide" Target="/ppt/notesSlides/notesSlide5.xml" Id="R7d848058e9c745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e4da5e884545b3" /><Relationship Type="http://schemas.openxmlformats.org/officeDocument/2006/relationships/notesSlide" Target="/ppt/notesSlides/notesSlide6.xml" Id="Re1b7dda2cdb2491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Skills, agents</a:t>
            </a:r>
          </a:p>
          <a:p xmlns:a="http://schemas.openxmlformats.org/drawingml/2006/main">
            <a:pPr algn="ctr">
              <a:buNone/>
            </a:pPr>
            <a:r>
              <a:rPr sz="7200">
                <a:solidFill>
                  <a:srgbClr val="BCEF59"/>
                </a:solidFill>
              </a:rPr>
              <a:t>and MCP</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Dimitrios S. Kanakoglou and Peter Wad Sackett</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Agentic Workshop</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Skills, agents and MCP</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Reusable guidance</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pPr>
            <a:r>
              <a:rPr sz="1800">
                <a:latin typeface="Inter"/>
                <a:ea typeface="Inter"/>
                <a:cs typeface="Inter"/>
              </a:rPr>
              <a:t>Instructions for a recurring task, loaded when relevant. A skill can include scripts or reference files.</a:t>
            </a:r>
            <a:r>
              <a:rPr sz="1800">
                <a:latin typeface="Inter"/>
                <a:ea typeface="Inter"/>
                <a:cs typeface="Inter"/>
              </a:rPr>
              <a:t> </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Inter SemiBold"/>
                <a:ea typeface="Inter SemiBold"/>
                <a:cs typeface="Inter SemiBold"/>
              </a:rPr>
              <a:t>A connection protocol</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Inter"/>
                <a:ea typeface="Inter"/>
                <a:cs typeface="Inter"/>
              </a:rPr>
              <a:t>A standard way for an application to discover and use server tools, resources, and prompts.</a:t>
            </a:r>
            <a:r>
              <a:rPr sz="1800" b="0" i="0" u="none" cap="none" spc="0">
                <a:ln>
                  <a:noFill/>
                </a:ln>
                <a:latin typeface="Inter"/>
                <a:ea typeface="Inter"/>
                <a:cs typeface="Inter"/>
              </a:rPr>
              <a:t> </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Inter SemiBold"/>
                <a:ea typeface="Inter SemiBold"/>
                <a:cs typeface="Inter SemiBold"/>
              </a:rPr>
              <a:t>A working role</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Inter"/>
                <a:ea typeface="Inter"/>
                <a:cs typeface="Inter"/>
              </a:rPr>
              <a:t>A model using instructions and permitted tools to pursue a task. Different agents can use the same model.</a:t>
            </a:r>
            <a:r>
              <a:rPr sz="1800" b="0" i="0" u="none" cap="none" spc="0">
                <a:ln>
                  <a:noFill/>
                </a:ln>
                <a:latin typeface="Inter"/>
                <a:ea typeface="Inter"/>
                <a:cs typeface="Inter"/>
              </a:rPr>
              <a:t> </a:t>
            </a:r>
          </a:p>
          <a:p xmlns:a="http://schemas.openxmlformats.org/drawingml/2006/main">
            <a:pPr marL="0" indent="0">
              <a:buNone/>
            </a:pPr>
            <a:endParaRPr>
              <a:latin typeface="Inter"/>
              <a:ea typeface="Inter"/>
              <a:cs typeface="Inter"/>
            </a:endParaRP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Skill</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Agent</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MCP</a:t>
            </a:r>
          </a:p>
        </p:txBody>
      </p:sp>
    </p:spTree>
    <p:extLst>
      <p:ext uri="{BB962C8B-B14F-4D97-AF65-F5344CB8AC3E}">
        <p14:creationId xmlns:p14="http://schemas.microsoft.com/office/powerpoint/2010/main" val="139345699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202359C0-8A7A-196E-DD58-8E6569619F09}" type="slidenum">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The components around an agent</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rgbClr val="BCEF59"/>
                </a:solidFill>
              </a:rPr>
              <a:t>Model</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rPr>
              <a:t>Generates responses and proposes tool calls. It can run on DTU hardware or through an external provider.</a:t>
            </a:r>
            <a:r>
              <a:rPr sz="1800" b="0" i="0" u="none" cap="none" spc="0">
                <a:ln>
                  <a:noFill/>
                </a:ln>
              </a:rPr>
              <a:t> </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rgbClr val="BCEF59"/>
                </a:solidFill>
              </a:rPr>
              <a:t>Harness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rPr>
              <a:t>OpenCode manages the conversation, tools, configuration, and approval prompts.</a:t>
            </a:r>
            <a:r>
              <a:rPr sz="1800" b="0" i="0" u="none" cap="none" spc="0">
                <a:ln>
                  <a:noFill/>
                </a:ln>
              </a:rPr>
              <a:t> </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Tool</a:t>
            </a:r>
          </a:p>
          <a:p xmlns:a="http://schemas.openxmlformats.org/drawingml/2006/main">
            <a:pPr marL="0" indent="0">
              <a:lnSpc>
                <a:spcPct val="100000"/>
              </a:lnSpc>
              <a:spcBef>
                <a:spcPts val="1300"/>
              </a:spcBef>
              <a:spcAft>
                <a:spcPts val="1300"/>
              </a:spcAft>
              <a:buFontTx/>
              <a:buNone/>
            </a:pPr>
            <a:r>
              <a:rPr sz="1800"/>
              <a:t>An executable operation, such as reading a file, running a command, or querying a service.</a:t>
            </a:r>
            <a:r>
              <a:rPr sz="1800"/>
              <a:t> </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Provider</a:t>
            </a:r>
          </a:p>
          <a:p xmlns:a="http://schemas.openxmlformats.org/drawingml/2006/main">
            <a:pPr marL="0" indent="0">
              <a:lnSpc>
                <a:spcPct val="100000"/>
              </a:lnSpc>
              <a:spcBef>
                <a:spcPts val="1300"/>
              </a:spcBef>
              <a:spcAft>
                <a:spcPts val="1300"/>
              </a:spcAft>
              <a:buFontTx/>
              <a:buNone/>
            </a:pPr>
            <a:r>
              <a:rPr sz="1800"/>
              <a:t>The connection to the model service. Model access and tool access are separate decisions.</a:t>
            </a:r>
            <a:r>
              <a:rPr sz="1800"/>
              <a:t> </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A PDB visualization request</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Chooses useful views and checks the result.</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Agent</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Supplies a repeatable download or validation procedure.</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Skill</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Retrieves the file, parses coordinates, or creates the viewer.</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Tool</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Can expose an external tool if the project needs one.</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MCP</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Inter Medium"/>
                <a:ea typeface="Inter Medium"/>
                <a:cs typeface="Inter Medium"/>
              </a:rPr>
              <a:t>One request can combine a specialist agent with reusable skills and executable tools.</a:t>
            </a:r>
          </a:p>
        </p:txBody>
      </p:sp>
    </p:spTree>
    <p:extLst>
      <p:ext uri="{BB962C8B-B14F-4D97-AF65-F5344CB8AC3E}">
        <p14:creationId xmlns:p14="http://schemas.microsoft.com/office/powerpoint/2010/main" val="676116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Permissions and evidence</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388" y="179792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t>Files and commands</a:t>
            </a:r>
            <a:endParaRPr/>
          </a:p>
          <a:p xmlns:a="http://schemas.openxmlformats.org/drawingml/2006/main">
            <a:pPr marL="0" indent="0">
              <a:lnSpc>
                <a:spcPct val="114000"/>
              </a:lnSpc>
              <a:spcBef>
                <a:spcPts val="0"/>
              </a:spcBef>
              <a:spcAft>
                <a:spcPts val="800"/>
              </a:spcAft>
              <a:buNone/>
            </a:pPr>
            <a:r>
              <a:t>run on your laptop</a:t>
            </a:r>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388" y="3065806"/>
            <a:ext cx="4774279" cy="206088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700" b="0" i="0" u="none" cap="none" spc="0">
                <a:ln>
                  <a:noFill/>
                </a:ln>
              </a:rPr>
              <a:t>Review requested actions. Keep original inputs and work in a separate output folder. Treat downloaded content as data, not instructions to obey.</a:t>
            </a:r>
            <a:endParaRPr sz="1700" b="0" i="0" u="none" kern="1200" cap="none" spc="0" baseline="0">
              <a:ln>
                <a:noFill/>
              </a:ln>
            </a:endParaRP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48" y="2017370"/>
            <a:ext cx="4986886" cy="1048436"/>
          </a:xfrm>
          <a:prstGeom xmlns:a="http://schemas.openxmlformats.org/drawingml/2006/main" prst="rect">
            <a:avLst/>
          </a:prstGeom>
        </p:spPr>
        <p:txBody>
          <a:bodyPr xmlns:a="http://schemas.openxmlformats.org/drawingml/2006/main" vert="horz" lIns="0" tIns="0" rIns="0" bIns="0">
            <a:normAutofit fontScale="100000" lnSpcReduction="2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Instructions</a:t>
            </a:r>
          </a:p>
          <a:p xmlns:a="http://schemas.openxmlformats.org/drawingml/2006/main">
            <a:pPr marL="0" indent="0">
              <a:lnSpc>
                <a:spcPct val="100000"/>
              </a:lnSpc>
              <a:spcBef>
                <a:spcPts val="1300"/>
              </a:spcBef>
              <a:spcAft>
                <a:spcPts val="1300"/>
              </a:spcAft>
              <a:buFontTx/>
              <a:buNone/>
            </a:pPr>
            <a:r>
              <a:rPr sz="1800"/>
              <a:t>A skill describes a procedure. Permissions determine which tools may carry it out.</a:t>
            </a:r>
            <a:r>
              <a:rPr sz="1800"/>
              <a:t> </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48" y="4029050"/>
            <a:ext cx="4986886" cy="1048436"/>
          </a:xfrm>
          <a:prstGeom xmlns:a="http://schemas.openxmlformats.org/drawingml/2006/main" prst="rect">
            <a:avLst/>
          </a:prstGeom>
        </p:spPr>
        <p:txBody>
          <a:bodyPr xmlns:a="http://schemas.openxmlformats.org/drawingml/2006/main" vert="horz" lIns="0" tIns="0" rIns="0" bIns="0">
            <a:normAutofit fontScale="97579" lnSpcReduction="2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Evidence</a:t>
            </a:r>
          </a:p>
          <a:p xmlns:a="http://schemas.openxmlformats.org/drawingml/2006/main">
            <a:pPr marL="0" indent="0">
              <a:lnSpc>
                <a:spcPct val="100000"/>
              </a:lnSpc>
              <a:spcBef>
                <a:spcPts val="1300"/>
              </a:spcBef>
              <a:spcAft>
                <a:spcPts val="1300"/>
              </a:spcAft>
              <a:buFontTx/>
              <a:buNone/>
            </a:pPr>
            <a:r>
              <a:rPr sz="1800"/>
              <a:t>A generated file still needs checks. A correct-looking image can contain a misleading interpretation.</a:t>
            </a:r>
            <a:r>
              <a:rPr sz="1800"/>
              <a:t> </a:t>
            </a:r>
          </a:p>
        </p:txBody>
      </p:sp>
    </p:spTree>
    <p:extLst>
      <p:ext uri="{BB962C8B-B14F-4D97-AF65-F5344CB8AC3E}">
        <p14:creationId xmlns:p14="http://schemas.microsoft.com/office/powerpoint/2010/main" val="33318791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Skills first,</a:t>
            </a:r>
          </a:p>
          <a:p xmlns:a="http://schemas.openxmlformats.org/drawingml/2006/main">
            <a:pPr algn="ctr">
              <a:buNone/>
            </a:pPr>
            <a:r>
              <a:rPr sz="7200">
                <a:solidFill>
                  <a:srgbClr val="BCEF59"/>
                </a:solidFill>
              </a:rPr>
              <a:t>then agents</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Reusable procedures become parts of a larger workflow</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The exercises</a:t>
            </a:r>
          </a:p>
        </p:txBody>
      </p:sp>
    </p:spTree>
    <p:extLst>
      <p:ext uri="{BB962C8B-B14F-4D97-AF65-F5344CB8AC3E}">
        <p14:creationId xmlns:p14="http://schemas.microsoft.com/office/powerpoint/2010/main" val="238537360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2026-09-15T09:08:01.1300000Z</dcterms:created>
  <dcterms:modified xsi:type="dcterms:W3CDTF">2026-09-15T09:08:01.1300000Z</dcterms:modified>
</coreProperties>
</file>