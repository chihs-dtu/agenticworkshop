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4ee0a6fd124574" /><Relationship Type="http://schemas.openxmlformats.org/officeDocument/2006/relationships/extended-properties" Target="/docProps/app.xml" Id="Re85b9291cf0f4360" /><Relationship Type="http://schemas.openxmlformats.org/officeDocument/2006/relationships/officeDocument" Target="/ppt/presentation.xml" Id="Rc9750c338e07461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b15a43230a141ee"/>
  </p:sldMasterIdLst>
  <p:notesMasterIdLst>
    <p:notesMasterId xmlns:r="http://schemas.openxmlformats.org/officeDocument/2006/relationships" r:id="R8c0fe53ecf0b4cb1"/>
  </p:notesMasterIdLst>
  <p:sldIdLst>
    <p:sldId xmlns:r="http://schemas.openxmlformats.org/officeDocument/2006/relationships" id="256" r:id="R51e506cb61a64ce6"/>
    <p:sldId xmlns:r="http://schemas.openxmlformats.org/officeDocument/2006/relationships" id="257" r:id="R43f75ccff41749a3"/>
    <p:sldId xmlns:r="http://schemas.openxmlformats.org/officeDocument/2006/relationships" id="258" r:id="R98a93a042c7d465d"/>
    <p:sldId xmlns:r="http://schemas.openxmlformats.org/officeDocument/2006/relationships" id="259" r:id="R216c2b33603247d2"/>
    <p:sldId xmlns:r="http://schemas.openxmlformats.org/officeDocument/2006/relationships" id="260" r:id="R2117d29767a54850"/>
    <p:sldId xmlns:r="http://schemas.openxmlformats.org/officeDocument/2006/relationships" id="261" r:id="R8bce7773877b47a2"/>
  </p:sldIdLst>
  <p:sldSz cx="12192000" cy="6858000"/>
  <p:notesSz cx="6858000" cy="9144000"/>
  <p:embeddedFontLst>
    <p:embeddedFont>
      <p:font typeface="Inter"/>
      <p:regular xmlns:r="http://schemas.openxmlformats.org/officeDocument/2006/relationships" r:id="R999f1380a877487f"/>
      <p:bold xmlns:r="http://schemas.openxmlformats.org/officeDocument/2006/relationships" r:id="R8b77a154e0b14eb8"/>
    </p:embeddedFont>
    <p:embeddedFont>
      <p:font typeface="Inter Medium"/>
      <p:regular xmlns:r="http://schemas.openxmlformats.org/officeDocument/2006/relationships" r:id="Rd6580b527be64315"/>
    </p:embeddedFont>
    <p:embeddedFont>
      <p:font typeface="Inter SemiBold"/>
      <p:regular xmlns:r="http://schemas.openxmlformats.org/officeDocument/2006/relationships" r:id="R35dc2a39c3d54770"/>
      <p:bold xmlns:r="http://schemas.openxmlformats.org/officeDocument/2006/relationships" r:id="Rdd5c0ce199224196"/>
    </p:embeddedFont>
    <p:embeddedFont>
      <p:font typeface="OpenAI Sans"/>
      <p:regular xmlns:r="http://schemas.openxmlformats.org/officeDocument/2006/relationships" r:id="Rbe03d3affee94593"/>
      <p:bold xmlns:r="http://schemas.openxmlformats.org/officeDocument/2006/relationships" r:id="Reb0287d90bf24181"/>
      <p:italic xmlns:r="http://schemas.openxmlformats.org/officeDocument/2006/relationships" r:id="R9702be3eb8494e5d"/>
      <p:boldItalic xmlns:r="http://schemas.openxmlformats.org/officeDocument/2006/relationships" r:id="R39522d86b2fa491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4aaa8f166f48a1" /><Relationship Type="http://schemas.openxmlformats.org/officeDocument/2006/relationships/slideMaster" Target="/ppt/slideMasters/slideMaster1.xml" Id="Rab15a43230a141ee" /><Relationship Type="http://schemas.openxmlformats.org/officeDocument/2006/relationships/notesMaster" Target="/ppt/notesMasters/notesMaster1.xml" Id="R8c0fe53ecf0b4cb1" /><Relationship Type="http://schemas.openxmlformats.org/officeDocument/2006/relationships/presProps" Target="/ppt/presProps.xml" Id="Rabdbb73498da44de" /><Relationship Type="http://schemas.openxmlformats.org/officeDocument/2006/relationships/viewProps" Target="/ppt/viewProps.xml" Id="R7ca461fcf2394b2f" /><Relationship Type="http://schemas.openxmlformats.org/officeDocument/2006/relationships/tableStyles" Target="/ppt/tableStyles.xml" Id="R41f7cd7610e940b2" /><Relationship Type="http://schemas.openxmlformats.org/officeDocument/2006/relationships/font" Target="/ppt/fonts/font.dat" Id="R999f1380a877487f" /><Relationship Type="http://schemas.openxmlformats.org/officeDocument/2006/relationships/font" Target="/ppt/fonts/font2.dat" Id="R8b77a154e0b14eb8" /><Relationship Type="http://schemas.openxmlformats.org/officeDocument/2006/relationships/font" Target="/ppt/fonts/font3.dat" Id="Rd6580b527be64315" /><Relationship Type="http://schemas.openxmlformats.org/officeDocument/2006/relationships/font" Target="/ppt/fonts/font4.dat" Id="R35dc2a39c3d54770" /><Relationship Type="http://schemas.openxmlformats.org/officeDocument/2006/relationships/font" Target="/ppt/fonts/font5.dat" Id="Rdd5c0ce199224196" /><Relationship Type="http://schemas.openxmlformats.org/officeDocument/2006/relationships/font" Target="/ppt/fonts/font6.dat" Id="Rbe03d3affee94593" /><Relationship Type="http://schemas.openxmlformats.org/officeDocument/2006/relationships/font" Target="/ppt/fonts/font7.dat" Id="Reb0287d90bf24181" /><Relationship Type="http://schemas.openxmlformats.org/officeDocument/2006/relationships/font" Target="/ppt/fonts/font8.dat" Id="R9702be3eb8494e5d" /><Relationship Type="http://schemas.openxmlformats.org/officeDocument/2006/relationships/font" Target="/ppt/fonts/font9.dat" Id="R39522d86b2fa4919" /><Relationship Type="http://schemas.openxmlformats.org/officeDocument/2006/relationships/slide" Target="/ppt/slides/slide1.xml" Id="R51e506cb61a64ce6" /><Relationship Type="http://schemas.openxmlformats.org/officeDocument/2006/relationships/slide" Target="/ppt/slides/slide2.xml" Id="R43f75ccff41749a3" /><Relationship Type="http://schemas.openxmlformats.org/officeDocument/2006/relationships/slide" Target="/ppt/slides/slide3.xml" Id="R98a93a042c7d465d" /><Relationship Type="http://schemas.openxmlformats.org/officeDocument/2006/relationships/slide" Target="/ppt/slides/slide4.xml" Id="R216c2b33603247d2" /><Relationship Type="http://schemas.openxmlformats.org/officeDocument/2006/relationships/slide" Target="/ppt/slides/slide5.xml" Id="R2117d29767a54850" /><Relationship Type="http://schemas.openxmlformats.org/officeDocument/2006/relationships/slide" Target="/ppt/slides/slide6.xml" Id="R8bce7773877b47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c49d80f7b8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56a67eeb7b458a" /><Relationship Type="http://schemas.openxmlformats.org/officeDocument/2006/relationships/notesMaster" Target="/ppt/notesMasters/notesMaster1.xml" Id="Rc1aa379c17ee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94185c42f849e8" /><Relationship Type="http://schemas.openxmlformats.org/officeDocument/2006/relationships/notesMaster" Target="/ppt/notesMasters/notesMaster1.xml" Id="Refcecd7db97148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7105c877824099" /><Relationship Type="http://schemas.openxmlformats.org/officeDocument/2006/relationships/notesMaster" Target="/ppt/notesMasters/notesMaster1.xml" Id="R742dd457379a4e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20dcc8880548c5" /><Relationship Type="http://schemas.openxmlformats.org/officeDocument/2006/relationships/notesMaster" Target="/ppt/notesMasters/notesMaster1.xml" Id="R989d5f7383144a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dbcbe448b24177" /><Relationship Type="http://schemas.openxmlformats.org/officeDocument/2006/relationships/notesMaster" Target="/ppt/notesMasters/notesMaster1.xml" Id="R5e748ffa157443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d1d945c9c2468c" /><Relationship Type="http://schemas.openxmlformats.org/officeDocument/2006/relationships/notesMaster" Target="/ppt/notesMasters/notesMaster1.xml" Id="R0c0d7f466b68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comparison and personal agent exercise. Avoid claiming a fixed performance multiplier. We will judge observable outputs and their usefulness.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</a:t>
            </a:r>
            <a:endParaRPr/>
          </a:p>
          <a:p xmlns:a="http://schemas.openxmlformats.org/drawingml/2006/main">
            <a:r>
              <a:t>https://github.com/peterwadsackett/AgenticWorkshop</a:t>
            </a:r>
            <a:endParaRPr/>
          </a:p>
          <a:p xmlns:a="http://schemas.openxmlformats.org/drawingml/2006/main">
            <a:r>
              <a:t>https://opencode.ai/docs/agents/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basic agent is not instructed to make errors. The good agent is a hypothesis about a better workflow. Neither is a trained model. Both examples use primary mode, 20 steps, edit/bash approval, and task denial. Repeat trials and test another input before judging repeatability.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https://github.com/peterwadsackett/AgenticWorkshop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https://opencode.ai/docs/agents/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.opencode/agents/my-agent.md or opencode agent create. Context/output limits belong in model configuration, not an invented context field in agent frontmatter. The reference also documents options, provider-specific fields, and deprecated tools/maxSteps. An agent-level model setting pins a model; leave it unset for the initial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https://opencode.ai/docs/agents/</a:t>
            </a:r>
          </a:p>
          <a:p xmlns:a="http://schemas.openxmlformats.org/drawingml/2006/main">
            <a:r>
              <a:t>https://opencode.ai/config.json</a:t>
            </a:r>
          </a:p>
          <a:p xmlns:a="http://schemas.openxmlformats.org/drawingml/2006/main">
            <a:r>
              <a:t>https://github.com/peterwadsackett/AgenticWorkshop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permission rule does not install a tool, create a skill, or compel its use. Subagents add calls and latency. MCP needs a configured server and its dependencies. A folder alone is not a server. Agent helpers require their own permissions; hidden is a UI setting rather than access control.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https://opencode.ai/docs/agents/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https://opencode.ai/docs/skills/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https://opencode.ai/docs/mcp-servers/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model and agent versions, settings, inputs, approvals, failures, elapsed time, and manual fixes. Low temperature does not guarantee identical runs. Treat parser/discovery checks, model replies, browser interaction checks, and scientific validation as separate levels. Use exercises/testing.md.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https://github.com/peterwadsackett/AgenticWorkshop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Participants may choose PDB visualization, analysis review, or another bounded data task. Start with the minimal example in Exercise 2b. Change one setting or instruction at a time. Leave the supplied agents intact so comparisons remain possible.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</a:t>
            </a:r>
            <a:endParaRPr/>
          </a:p>
          <a:p xmlns:a="http://schemas.openxmlformats.org/drawingml/2006/main">
            <a:r>
              <a:t>https://github.com/peterwadsackett/AgenticWorkshop</a:t>
            </a:r>
            <a:endParaRPr/>
          </a:p>
          <a:p xmlns:a="http://schemas.openxmlformats.org/drawingml/2006/main">
            <a:r>
              <a:t>https://opencode.ai/docs/agents/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eb5741c9149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38eecbc7a41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43da88b284a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211a958064f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a5538272f45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5c532b96248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d323e24524f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bd7e9c3a244f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1e2e1bb9546fa" /><Relationship Type="http://schemas.openxmlformats.org/officeDocument/2006/relationships/slideLayout" Target="/ppt/slideLayouts/slideLayout1.xml" Id="R00b8d6014902406c" /><Relationship Type="http://schemas.openxmlformats.org/officeDocument/2006/relationships/slideLayout" Target="/ppt/slideLayouts/slideLayout2.xml" Id="R1d9b39af9cf34cc8" /><Relationship Type="http://schemas.openxmlformats.org/officeDocument/2006/relationships/slideLayout" Target="/ppt/slideLayouts/slideLayout3.xml" Id="R5b49b0c9ba9047c9" /><Relationship Type="http://schemas.openxmlformats.org/officeDocument/2006/relationships/slideLayout" Target="/ppt/slideLayouts/slideLayout4.xml" Id="Re7e34a2efc324b35" /><Relationship Type="http://schemas.openxmlformats.org/officeDocument/2006/relationships/slideLayout" Target="/ppt/slideLayouts/slideLayout5.xml" Id="Rfc866846aaac4508" /><Relationship Type="http://schemas.openxmlformats.org/officeDocument/2006/relationships/slideLayout" Target="/ppt/slideLayouts/slideLayout6.xml" Id="R4d85eefd40a14545" /><Relationship Type="http://schemas.openxmlformats.org/officeDocument/2006/relationships/slideLayout" Target="/ppt/slideLayouts/slideLayout7.xml" Id="R5012443ffa0b4942" /><Relationship Type="http://schemas.openxmlformats.org/officeDocument/2006/relationships/slideLayout" Target="/ppt/slideLayouts/slideLayout8.xml" Id="R77e9d3be27154fc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b8d6014902406c"/>
    <p:sldLayoutId xmlns:r="http://schemas.openxmlformats.org/officeDocument/2006/relationships" id="2147483650" r:id="R1d9b39af9cf34cc8"/>
    <p:sldLayoutId xmlns:r="http://schemas.openxmlformats.org/officeDocument/2006/relationships" id="2147483651" r:id="R5b49b0c9ba9047c9"/>
    <p:sldLayoutId xmlns:r="http://schemas.openxmlformats.org/officeDocument/2006/relationships" id="2147483652" r:id="Re7e34a2efc324b35"/>
    <p:sldLayoutId xmlns:r="http://schemas.openxmlformats.org/officeDocument/2006/relationships" id="2147483653" r:id="Rfc866846aaac4508"/>
    <p:sldLayoutId xmlns:r="http://schemas.openxmlformats.org/officeDocument/2006/relationships" id="2147483654" r:id="R4d85eefd40a14545"/>
    <p:sldLayoutId xmlns:r="http://schemas.openxmlformats.org/officeDocument/2006/relationships" id="2147483655" r:id="R5012443ffa0b4942"/>
    <p:sldLayoutId xmlns:r="http://schemas.openxmlformats.org/officeDocument/2006/relationships" id="2147483656" r:id="R77e9d3be27154fc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d16cb070e42a6" /><Relationship Type="http://schemas.openxmlformats.org/officeDocument/2006/relationships/notesSlide" Target="/ppt/notesSlides/notesSlide1.xml" Id="R60e31c1109b741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a40a106144976" /><Relationship Type="http://schemas.openxmlformats.org/officeDocument/2006/relationships/notesSlide" Target="/ppt/notesSlides/notesSlide2.xml" Id="Rfed5d085215d4e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1c602064a4c75" /><Relationship Type="http://schemas.openxmlformats.org/officeDocument/2006/relationships/notesSlide" Target="/ppt/notesSlides/notesSlide3.xml" Id="Rb526e737636144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a777bf18b4ddf" /><Relationship Type="http://schemas.openxmlformats.org/officeDocument/2006/relationships/notesSlide" Target="/ppt/notesSlides/notesSlide4.xml" Id="R6cf1a6c337d841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49924210e4536" /><Relationship Type="http://schemas.openxmlformats.org/officeDocument/2006/relationships/notesSlide" Target="/ppt/notesSlides/notesSlide5.xml" Id="R08f6684f399946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2e1f99fe44084" /><Relationship Type="http://schemas.openxmlformats.org/officeDocument/2006/relationships/notesSlide" Target="/ppt/notesSlides/notesSlide6.xml" Id="R6c11e8fc464040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Designing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your own agent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Exercise 2a and 2b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Agentic Workshop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bad-agent and good-agent comparison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Same model, input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and available tools</a:t>
            </a: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cap="none" spc="0">
                <a:ln>
                  <a:noFill/>
                </a:ln>
              </a:rPr>
              <a:t>Use fresh conversations and separate output folders. Keep permissions and the step limit the same. Inspect what each agent actually produces.</a:t>
            </a:r>
            <a:endParaRPr sz="1700" b="0" i="0" u="none" kern="1200" cap="none" spc="0" baseline="0">
              <a:ln>
                <a:noFill/>
              </a:ln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7579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Basic instructions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Create an interactive PDB viewer and make it look good. The task leaves many decisions unspecified.</a:t>
            </a:r>
            <a:r>
              <a:rPr sz="1800"/>
              <a:t> 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Explicit workflow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Inspect the structure, choose useful views, reuse skills, and verify the result.</a:t>
            </a:r>
            <a:r>
              <a:rPr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main agent settings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Purpose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description and Markdown instructions define the job, decisions, outputs, and checks.</a:t>
            </a:r>
            <a:r>
              <a:rPr sz="1800" b="0" i="0" u="none" cap="none" spc="0">
                <a:ln>
                  <a:noFill/>
                </a:ln>
              </a:rPr>
              <a:t> 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Model behaviour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model and variant select a configuration. temperature and top_p affect supported sampling.</a:t>
            </a:r>
            <a:r>
              <a:rPr sz="1800" b="0" i="0" u="none" cap="none" spc="0">
                <a:ln>
                  <a:noFill/>
                </a:ln>
              </a:rPr>
              <a:t> 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Execution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mode chooses a primary agent or helper. steps bounds iterations. permission controls tools.</a:t>
            </a:r>
            <a:r>
              <a:rPr sz="1800"/>
              <a:t> 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Other settings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disable, hidden, and color affect availability or display. Exercise 2b has the complete reference.</a:t>
            </a:r>
            <a:r>
              <a:rPr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How an agent becomes modular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Specify what to decide and how to recognise success.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Instructions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Load a recurring procedure when it is relevant.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Skills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Delegate a bounded task to a separately configured helper.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Subagents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Connect a service when built-in tools are insufficient.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MCP tools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Give each reusable part a clear responsibility. Add a component when it solves a real need.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4229100" cy="5195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BCEF59"/>
                </a:solidFill>
              </a:rPr>
              <a:t>A fair test of your agent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1881809"/>
          <a:ext xmlns:a="http://schemas.openxmlformats.org/drawingml/2006/main" cx="11404600" cy="41125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/>
                <a:gridCol w="7222435"/>
                <a:gridCol w="3422926"/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Same model and input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Control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Fresh chats and separate copies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Isolation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Same tools and permissions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Fairness</a:t>
                      </a:r>
                      <a:endParaRPr sz="2500" b="0" i="0" u="none" kern="1200" cap="none" spc="0" baseline="0">
                        <a:ln>
                          <a:noFill/>
                        </a:ln>
                        <a:solidFill>
                          <a:srgbClr val="BCEF59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Normal and invalid inputs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Robustness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Browser and content checks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Evidence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Repeated runs and a new input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Reuse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Your task,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your agent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Exercise 2b: define success, build, and test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2026-09-15T09:08:55.3400000Z</dcterms:created>
  <dcterms:modified xsi:type="dcterms:W3CDTF">2026-09-15T09:08:55.3400000Z</dcterms:modified>
</coreProperties>
</file>